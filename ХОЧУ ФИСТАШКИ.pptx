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40C50-DA06-16A7-069D-F8D3B5653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F109A0-3435-85A3-3260-62DAEA65F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B49A12-5F83-9DF0-2A7D-47F9E819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3BBB07-959A-7FDA-40A7-644ADA3F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B19D27-6743-3F48-4620-62C3D4F0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8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D7C9C-238D-57F9-B0F0-F22FCD12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C1148-3143-D1F5-EFB6-503FCEBF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DB51F2-F06D-E53A-8696-6FD80BCA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C36CE9-8422-734E-9624-D8BC5A80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0B1A50-1AE4-0080-1337-D2C2EBB4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59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024E1-C613-B5C3-802A-A86D6872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D76F0C-9CEE-7427-A153-5C6A5CC8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4841CA-997C-B38C-7B06-C70D38F7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F91C6A-624C-A400-A66B-CCF196A4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E08091-9193-C489-338E-D232CD3A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80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1BF36-9199-1922-4587-8671DDFB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54F54C-03C3-37F4-5FC4-E957BDE15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7787E9-DEFA-9DE2-5FA4-A4FF15347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544D82-1BE4-1721-A701-9C85C94C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813259-76DB-ED69-3629-649E0362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F68F6A-7A28-90B0-F956-D22FFF41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65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8486B-CCB1-BE56-011F-73F897DB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1503EE-65BD-3760-E38B-6EFF45B87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94F90D-DC69-C91C-9D18-A7609BE1D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8C8718A-26F5-3168-33FD-52E3349D9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AD7335-FEE6-DCBC-11BB-62F747D8D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82D5FD-3D3D-F042-7AAA-155C4F0F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39864F-B60C-5FF3-38EB-221979FC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34DB47-B435-CFDD-BAC7-FAD6D9DA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32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6C655-D3E3-4449-7C81-AF81BF62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516699-57F9-0593-1C26-C5C93CF8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1E0543-0933-7CB6-A310-35DF521EA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4CD3F5-192A-7E3B-0CC8-9203C6FD1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99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88D42-97C6-C626-E66A-208F351C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A7B457-9848-2C4C-2330-25F77F43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A23D49-07C8-7855-B2E5-EE918924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20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C4F2B-9B54-DF98-9B93-B5D96529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D2A824-63DA-F990-3265-CEE8FA3E4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0F4F0F-FD1E-F554-64C2-3270C1F98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5CB375-265E-E6FF-22CB-C82060CE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805E91-5F1B-14FA-C9B4-D418E866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837EBD-B8D8-FCB2-39F3-10489449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52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B3E1E-E377-F5D1-9710-B4A949E3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F40364-F2A6-33EC-F28B-A2B8FA59A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FCBB5D-AD08-60C6-E41B-7429AAB8E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9117F6-4140-D140-770D-B206C19A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54E28F-9FD7-D1AC-24EF-8C9CF21E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144230-AE6B-2A22-5E99-82721F15A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55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E36DB-4B51-E253-F9A6-8A5B4EB48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029D77-6EB7-D7AE-9831-2B1A59784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A66B8C-5DC0-4BD3-E2DB-3ED34CC6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BDE61F-A645-4630-9AF2-6C3ABF85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F2D895-B968-57BC-C5F4-94415F03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19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9AC4AF-FB56-CA38-38D1-F7D67C445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3D8CC3-9D2E-9AAF-35DA-AA0DC9A43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88655-78C2-EE12-428E-1C970FCA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020C90-8D6F-CEED-AEC8-26BA13A0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FFF9BD-62FB-CE17-809F-06FCC68B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42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EB0D3-22DC-DCE1-9C0E-E0512676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B60ABA-232F-B52E-0DE7-00DB7647C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F1A3DE-AC12-FE83-6F48-0B5ED02FE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B8DF9-7842-4146-90EF-DCFB3B310F6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9CB194-D097-8C00-521C-EBC306C6E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A41F91-F8DD-F226-70E3-52BB8CEF5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B9B17-96F5-4E33-B685-217C31F1ED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03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71722" y="2469368"/>
            <a:ext cx="9144000" cy="14426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«Проектирование ИС «Служба доставки»»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996392" y="4274194"/>
            <a:ext cx="4850296" cy="1651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Выполнил: Изосимов Д.К.,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студент 1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ИСиП 25-11-1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Гончарова Т.В., 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34597FB-734A-7421-C8C0-F95D78B03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431" y="668600"/>
            <a:ext cx="7729728" cy="785731"/>
          </a:xfrm>
        </p:spPr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A9E3D-DDA1-0F6E-E090-AFDD69260499}"/>
              </a:ext>
            </a:extLst>
          </p:cNvPr>
          <p:cNvSpPr txBox="1"/>
          <p:nvPr/>
        </p:nvSpPr>
        <p:spPr>
          <a:xfrm>
            <a:off x="102217" y="2249718"/>
            <a:ext cx="11916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Система бронирования автобусных билетов – это информационная система, предназначенная для автоматизации процессов поиска рейсов, оформления заказов, оплаты билетов и хранения информации о клиентах и бронированиях.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845B8-AF42-9AB0-46B2-7909F2DEF8B4}"/>
              </a:ext>
            </a:extLst>
          </p:cNvPr>
          <p:cNvSpPr txBox="1"/>
          <p:nvPr/>
        </p:nvSpPr>
        <p:spPr>
          <a:xfrm>
            <a:off x="102216" y="3068052"/>
            <a:ext cx="109187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Основные бизнес-процессы:</a:t>
            </a:r>
          </a:p>
          <a:p>
            <a:r>
              <a:rPr lang="ru-RU" dirty="0"/>
              <a:t>• Регистрация и авторизация клиентов в системе</a:t>
            </a:r>
          </a:p>
          <a:p>
            <a:r>
              <a:rPr lang="ru-RU" dirty="0"/>
              <a:t>• Поиск и подбор автобусных рейсов по заданным параметрам </a:t>
            </a:r>
          </a:p>
          <a:p>
            <a:r>
              <a:rPr lang="ru-RU" dirty="0"/>
              <a:t>• Оформление и подтверждение бронирования билетов</a:t>
            </a:r>
          </a:p>
          <a:p>
            <a:r>
              <a:rPr lang="ru-RU" dirty="0"/>
              <a:t>• Расчет стоимости поездки и обработка платежей</a:t>
            </a:r>
          </a:p>
          <a:p>
            <a:r>
              <a:rPr lang="ru-RU" dirty="0"/>
              <a:t>• Формирование и выдача электронных билетов</a:t>
            </a:r>
          </a:p>
          <a:p>
            <a:r>
              <a:rPr lang="ru-RU" dirty="0"/>
              <a:t>• Хранение информации о клиентах, рейсах, заказах и платежах</a:t>
            </a:r>
          </a:p>
          <a:p>
            <a:r>
              <a:rPr lang="ru-RU" dirty="0"/>
              <a:t>• Ведение истории бронирований и учет выполненных заказов</a:t>
            </a:r>
          </a:p>
          <a:p>
            <a:r>
              <a:rPr lang="ru-RU" dirty="0"/>
              <a:t>• Управление информацией о рейсах и свободных местах</a:t>
            </a:r>
          </a:p>
          <a:p>
            <a:r>
              <a:rPr lang="ru-RU" dirty="0"/>
              <a:t>• Обработка и контроль платежных операций</a:t>
            </a:r>
          </a:p>
          <a:p>
            <a:r>
              <a:rPr lang="ru-RU" dirty="0"/>
              <a:t>• Предоставление клиентам информации о статусе бронирования и оплате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2546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CF6333-7871-F66E-1CF7-EFB4CD298048}"/>
              </a:ext>
            </a:extLst>
          </p:cNvPr>
          <p:cNvSpPr txBox="1"/>
          <p:nvPr/>
        </p:nvSpPr>
        <p:spPr>
          <a:xfrm>
            <a:off x="90236" y="1859339"/>
            <a:ext cx="1011204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Основные проблемы предметной области:</a:t>
            </a:r>
          </a:p>
          <a:p>
            <a:r>
              <a:rPr lang="ru-RU" dirty="0"/>
              <a:t>• Длительная обработка заявок на бронирование билетов</a:t>
            </a:r>
          </a:p>
          <a:p>
            <a:r>
              <a:rPr lang="ru-RU" dirty="0"/>
              <a:t>• Высокая вероятность ошибок при ручном вводе данных о клиентах и заказах</a:t>
            </a:r>
          </a:p>
          <a:p>
            <a:r>
              <a:rPr lang="ru-RU" dirty="0"/>
              <a:t>• Сложность учета свободных мест на рейсах</a:t>
            </a:r>
          </a:p>
          <a:p>
            <a:r>
              <a:rPr lang="ru-RU" dirty="0"/>
              <a:t>• Отсутствие централизованного хранения информации о клиентах, заказах и платежах</a:t>
            </a:r>
          </a:p>
          <a:p>
            <a:r>
              <a:rPr lang="ru-RU" dirty="0"/>
              <a:t>• Затрудненный поиск информации о рейсах и бронированиях</a:t>
            </a:r>
          </a:p>
          <a:p>
            <a:r>
              <a:rPr lang="ru-RU" dirty="0"/>
              <a:t>• Неудобный контроль оплаты и статусов заказов</a:t>
            </a:r>
          </a:p>
          <a:p>
            <a:r>
              <a:rPr lang="ru-RU" dirty="0"/>
              <a:t>• Сложность ведения истории бронирований</a:t>
            </a:r>
          </a:p>
          <a:p>
            <a:r>
              <a:rPr lang="ru-RU" dirty="0"/>
              <a:t>• Повышенная нагрузка на сотрудников при большом количестве клиентов</a:t>
            </a:r>
          </a:p>
          <a:p>
            <a:r>
              <a:rPr lang="ru-RU" dirty="0"/>
              <a:t>• Недостаточная скорость обслуживания клиентов</a:t>
            </a:r>
          </a:p>
          <a:p>
            <a:r>
              <a:rPr lang="ru-RU" dirty="0"/>
              <a:t>• Отсутствие удобного инструмента для управления рейсами и заказами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D9B10-4CDD-225C-1EB9-1B12FA6465DC}"/>
              </a:ext>
            </a:extLst>
          </p:cNvPr>
          <p:cNvSpPr txBox="1"/>
          <p:nvPr/>
        </p:nvSpPr>
        <p:spPr>
          <a:xfrm>
            <a:off x="4272463" y="570119"/>
            <a:ext cx="36470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Проблематика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356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450B50-9B70-3A66-3146-7A6D204449ED}"/>
              </a:ext>
            </a:extLst>
          </p:cNvPr>
          <p:cNvSpPr txBox="1"/>
          <p:nvPr/>
        </p:nvSpPr>
        <p:spPr>
          <a:xfrm>
            <a:off x="4311566" y="511632"/>
            <a:ext cx="35688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dirty="0">
                <a:solidFill>
                  <a:prstClr val="black"/>
                </a:solidFill>
                <a:latin typeface="Calibri Light" panose="020F0302020204030204"/>
              </a:rPr>
              <a:t>Цели и задачи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5BFE6-4D0C-15B8-DA19-BB92470D5E51}"/>
              </a:ext>
            </a:extLst>
          </p:cNvPr>
          <p:cNvSpPr txBox="1"/>
          <p:nvPr/>
        </p:nvSpPr>
        <p:spPr>
          <a:xfrm>
            <a:off x="108284" y="1527721"/>
            <a:ext cx="9306427" cy="524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курсового проекта является проектирование информационной системы бронирования автобусных билетов, обеспечивающей автоматизацию основных процессов оформления заказов, хранение и обработку данных, а также удобство использования для клиентов.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поставленной цели необходимо решить следующие задачи: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Провести анализ предметной области.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Изучить процессы бронирования автобусных билетов.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функциональную модель системы.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Выполнить проектирование информационной системы.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структуру базы данных.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Создать пользовательский интерфейс системы.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эскизный проект информационной системы.</a:t>
            </a:r>
            <a:endParaRPr lang="ru-R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259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EAAD17-8D74-7AD4-A522-B2E041170926}"/>
              </a:ext>
            </a:extLst>
          </p:cNvPr>
          <p:cNvSpPr txBox="1"/>
          <p:nvPr/>
        </p:nvSpPr>
        <p:spPr>
          <a:xfrm>
            <a:off x="2154906" y="565775"/>
            <a:ext cx="78821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Объект и предмет исследования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4CE5B-0FCE-7099-C180-7991540766BA}"/>
              </a:ext>
            </a:extLst>
          </p:cNvPr>
          <p:cNvSpPr txBox="1"/>
          <p:nvPr/>
        </p:nvSpPr>
        <p:spPr>
          <a:xfrm>
            <a:off x="198521" y="2136338"/>
            <a:ext cx="74189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Объектом исследования </a:t>
            </a:r>
            <a:r>
              <a:rPr lang="ru-RU" dirty="0"/>
              <a:t>данной курсовой работы являются процессы бронирования, оформления и оплаты билетов на автобусные рейсы, а также организация хранения и обработки информации о клиентах, рейсах, заказах и платежах.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b="1" dirty="0"/>
              <a:t>Предметом исследования </a:t>
            </a:r>
            <a:r>
              <a:rPr lang="ru-RU" dirty="0"/>
              <a:t>является автоматизация процессов поиска автобусных рейсов, оформления заказов, обработки платежей, выдачи электронных билетов и ведения истории бронирований с использованием информационной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788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C88693-89BB-A84E-E412-3371888E5F70}"/>
              </a:ext>
            </a:extLst>
          </p:cNvPr>
          <p:cNvSpPr txBox="1"/>
          <p:nvPr/>
        </p:nvSpPr>
        <p:spPr>
          <a:xfrm>
            <a:off x="2266198" y="642309"/>
            <a:ext cx="765960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Контекстная диаграмма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IDEF0 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«Покупка билетов на рейс»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F54F1E-19D9-DAB6-F7AF-0B169D93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001" y="2088859"/>
            <a:ext cx="5603996" cy="412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01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650A31-BF67-A014-375E-EDDBF2F9E588}"/>
              </a:ext>
            </a:extLst>
          </p:cNvPr>
          <p:cNvSpPr txBox="1"/>
          <p:nvPr/>
        </p:nvSpPr>
        <p:spPr>
          <a:xfrm>
            <a:off x="1328737" y="528846"/>
            <a:ext cx="95345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Декомпозиция диаграммы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IDEF0 (1</a:t>
            </a:r>
            <a:r>
              <a:rPr kumimoji="0" lang="ru-RU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ур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.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A150A3-9590-9E5F-ED64-41225274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4" y="1298287"/>
            <a:ext cx="10534650" cy="526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32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2CAE22-6C56-92F4-B357-AF57E31A6888}"/>
              </a:ext>
            </a:extLst>
          </p:cNvPr>
          <p:cNvSpPr txBox="1"/>
          <p:nvPr/>
        </p:nvSpPr>
        <p:spPr>
          <a:xfrm>
            <a:off x="2571749" y="558255"/>
            <a:ext cx="704850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Контекстная диаграмма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DFD 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«Бронирование билетов»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95B7DF-A67C-CE18-F94F-9F0A8E37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33" y="2004805"/>
            <a:ext cx="9887733" cy="416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8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ECEEDC-9E6D-054D-8218-82A696D5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55437"/>
            <a:ext cx="12192000" cy="4330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96838E-94FD-F13A-3F15-63FFD5199A3D}"/>
              </a:ext>
            </a:extLst>
          </p:cNvPr>
          <p:cNvSpPr txBox="1"/>
          <p:nvPr/>
        </p:nvSpPr>
        <p:spPr>
          <a:xfrm>
            <a:off x="1581149" y="585996"/>
            <a:ext cx="90297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Декомпозиция диаграммы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DFD (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1ур.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512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C4A977-9742-9A12-6BD3-0792B4B6F25E}"/>
              </a:ext>
            </a:extLst>
          </p:cNvPr>
          <p:cNvSpPr txBox="1"/>
          <p:nvPr/>
        </p:nvSpPr>
        <p:spPr>
          <a:xfrm>
            <a:off x="442912" y="74313"/>
            <a:ext cx="52482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Техническое задание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D675F5-487D-CB1D-967A-FD3AB9DD0234}"/>
              </a:ext>
            </a:extLst>
          </p:cNvPr>
          <p:cNvSpPr txBox="1"/>
          <p:nvPr/>
        </p:nvSpPr>
        <p:spPr>
          <a:xfrm>
            <a:off x="258476" y="1348302"/>
            <a:ext cx="327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Основная цель разработки ИС: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9FEBF7-1EE2-4096-762D-85930AC46421}"/>
              </a:ext>
            </a:extLst>
          </p:cNvPr>
          <p:cNvSpPr txBox="1"/>
          <p:nvPr/>
        </p:nvSpPr>
        <p:spPr>
          <a:xfrm>
            <a:off x="258476" y="1717634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Создание веб-интерфейса для администратора системы бронирования автобусных билетов, обеспечивающего удобное управление данными о клиентах, рейсах, заказах, платежах и истории бронирований.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A11B-B06D-9BDA-E31F-26472C8279F8}"/>
              </a:ext>
            </a:extLst>
          </p:cNvPr>
          <p:cNvSpPr txBox="1"/>
          <p:nvPr/>
        </p:nvSpPr>
        <p:spPr>
          <a:xfrm>
            <a:off x="7315200" y="-69073"/>
            <a:ext cx="6096000" cy="357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Основные функциональные требования: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Страница клиентов.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Страница рейсов.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Страница заказов.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Страница платежей.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Страница истории бронирований.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Поиск информации на страницах системы</a:t>
            </a: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95420-F3DC-0A1D-A5EB-DB88550495F3}"/>
              </a:ext>
            </a:extLst>
          </p:cNvPr>
          <p:cNvSpPr txBox="1"/>
          <p:nvPr/>
        </p:nvSpPr>
        <p:spPr>
          <a:xfrm>
            <a:off x="258476" y="3375818"/>
            <a:ext cx="10104724" cy="347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разработки базы данных включает несколько основных этапов:</a:t>
            </a:r>
            <a:endParaRPr lang="ru-RU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Концептуальное проектирование. На данном этапе выполняется анализ предметной области, определяются основные сущности системы, их свойства и взаимосвязи.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Логическое проектирование. Этап включает разработку структуры базы данных, определение таблиц, атрибутов и связей между ними.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Физическое проектирование. На этапе физического проектирования определяется способ хранения данных, создаются таблицы базы данных и настраиваются параметры доступа и обработки информации.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65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4BFAB-5E24-CE2B-3CFB-00544192B147}"/>
              </a:ext>
            </a:extLst>
          </p:cNvPr>
          <p:cNvSpPr txBox="1"/>
          <p:nvPr/>
        </p:nvSpPr>
        <p:spPr>
          <a:xfrm>
            <a:off x="2714625" y="491580"/>
            <a:ext cx="676275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  <a:latin typeface="Calibri Light" panose="020F0302020204030204"/>
              </a:rPr>
              <a:t>UML</a:t>
            </a:r>
            <a:r>
              <a:rPr lang="ru-RU" sz="4400" dirty="0">
                <a:solidFill>
                  <a:prstClr val="black"/>
                </a:solidFill>
                <a:latin typeface="Calibri Light" panose="020F0302020204030204"/>
              </a:rPr>
              <a:t> диаграмма вариантов использования (</a:t>
            </a:r>
            <a:r>
              <a:rPr lang="en-US" sz="4400" dirty="0">
                <a:solidFill>
                  <a:prstClr val="black"/>
                </a:solidFill>
                <a:latin typeface="Calibri Light" panose="020F0302020204030204"/>
              </a:rPr>
              <a:t>USECASE</a:t>
            </a:r>
            <a:r>
              <a:rPr lang="ru-RU" sz="4400" dirty="0">
                <a:solidFill>
                  <a:prstClr val="black"/>
                </a:solidFill>
                <a:latin typeface="Calibri Light" panose="020F0302020204030204"/>
              </a:rPr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BAEF6C-9245-2B5F-8D89-926F47963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5" y="1938130"/>
            <a:ext cx="3714443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3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BB9680-A411-0539-EF82-1D93F35CDB52}"/>
              </a:ext>
            </a:extLst>
          </p:cNvPr>
          <p:cNvSpPr txBox="1"/>
          <p:nvPr/>
        </p:nvSpPr>
        <p:spPr>
          <a:xfrm>
            <a:off x="114300" y="224880"/>
            <a:ext cx="508635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UML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диаграмма деятельности (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ACTIVITY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1B92E9-F8BE-BC52-DFB4-98492938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403" y="0"/>
            <a:ext cx="2761193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599BFFA-139B-F416-09B4-78B03640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696" y="0"/>
            <a:ext cx="2606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2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F7BDD6-8262-6321-1F8F-A9B445834A5F}"/>
              </a:ext>
            </a:extLst>
          </p:cNvPr>
          <p:cNvSpPr txBox="1"/>
          <p:nvPr/>
        </p:nvSpPr>
        <p:spPr>
          <a:xfrm>
            <a:off x="152400" y="219700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UML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диаграмма последовательности (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ACTIVITY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1FA394-5931-3773-9BF7-6F52CF0D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0"/>
            <a:ext cx="6972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64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CD6F58-5BBB-62ED-26E9-C87EEB17BC21}"/>
              </a:ext>
            </a:extLst>
          </p:cNvPr>
          <p:cNvSpPr txBox="1"/>
          <p:nvPr/>
        </p:nvSpPr>
        <p:spPr>
          <a:xfrm>
            <a:off x="2195512" y="456992"/>
            <a:ext cx="7800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UML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диаграмма классов (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CLASS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144BFD-DF2D-94B4-4ACB-8D76D2472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786" y="1226433"/>
            <a:ext cx="5940425" cy="5013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5061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49575-769E-86B7-8183-3E137D1A0880}"/>
              </a:ext>
            </a:extLst>
          </p:cNvPr>
          <p:cNvSpPr txBox="1"/>
          <p:nvPr/>
        </p:nvSpPr>
        <p:spPr>
          <a:xfrm>
            <a:off x="247650" y="195471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dirty="0">
                <a:solidFill>
                  <a:prstClr val="black"/>
                </a:solidFill>
                <a:latin typeface="Calibri Light" panose="020F0302020204030204"/>
              </a:rPr>
              <a:t>Концептуальная модель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094A74-E9B8-0F26-D25E-710DB33F4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475" y="0"/>
            <a:ext cx="35814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18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45679-147A-A89E-A099-89AEE0C8BF27}"/>
              </a:ext>
            </a:extLst>
          </p:cNvPr>
          <p:cNvSpPr txBox="1"/>
          <p:nvPr/>
        </p:nvSpPr>
        <p:spPr>
          <a:xfrm>
            <a:off x="2767012" y="495925"/>
            <a:ext cx="6657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Логическая модель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54F941-6031-3830-2C9F-3A1FF9EA3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768" y="1265366"/>
            <a:ext cx="7256461" cy="3988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0329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9A96D-AEFC-A603-86CB-D0668775F364}"/>
              </a:ext>
            </a:extLst>
          </p:cNvPr>
          <p:cNvSpPr txBox="1"/>
          <p:nvPr/>
        </p:nvSpPr>
        <p:spPr>
          <a:xfrm>
            <a:off x="2662237" y="657850"/>
            <a:ext cx="68675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Физическая модель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6F0B16-A318-9FAC-3B4C-8196F8066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25" y="1427291"/>
            <a:ext cx="7056437" cy="482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50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3C23C7-AB9D-BDC8-9CA8-9CDBBB502C40}"/>
              </a:ext>
            </a:extLst>
          </p:cNvPr>
          <p:cNvSpPr txBox="1"/>
          <p:nvPr/>
        </p:nvSpPr>
        <p:spPr>
          <a:xfrm>
            <a:off x="1600200" y="543550"/>
            <a:ext cx="8991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Проверочные запросы к базе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5F113-EE44-BF80-4991-4488DE6D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628775"/>
            <a:ext cx="2438400" cy="628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3C48BF-748D-38E6-A378-E73A3C998706}"/>
              </a:ext>
            </a:extLst>
          </p:cNvPr>
          <p:cNvSpPr txBox="1"/>
          <p:nvPr/>
        </p:nvSpPr>
        <p:spPr>
          <a:xfrm>
            <a:off x="1600200" y="1444109"/>
            <a:ext cx="22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 всех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931071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75675-6040-914E-E286-07F2603C53F1}"/>
              </a:ext>
            </a:extLst>
          </p:cNvPr>
          <p:cNvSpPr txBox="1"/>
          <p:nvPr/>
        </p:nvSpPr>
        <p:spPr>
          <a:xfrm>
            <a:off x="1600200" y="543550"/>
            <a:ext cx="8991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Проверочные запросы к базе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5ED04-0A3B-4225-3C63-3559FA707926}"/>
              </a:ext>
            </a:extLst>
          </p:cNvPr>
          <p:cNvSpPr txBox="1"/>
          <p:nvPr/>
        </p:nvSpPr>
        <p:spPr>
          <a:xfrm>
            <a:off x="1600200" y="1444109"/>
            <a:ext cx="2038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 всех рейсов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E3D7F4-D0CB-5573-EB0D-B82E9A358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012" y="1505990"/>
            <a:ext cx="2723975" cy="73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A1314-1368-4E9F-4E19-091FF696DAAF}"/>
              </a:ext>
            </a:extLst>
          </p:cNvPr>
          <p:cNvSpPr txBox="1"/>
          <p:nvPr/>
        </p:nvSpPr>
        <p:spPr>
          <a:xfrm>
            <a:off x="1600200" y="543550"/>
            <a:ext cx="8991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Проверочные запросы к базе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5CBAE-7A96-A380-6476-321C2C27E7C5}"/>
              </a:ext>
            </a:extLst>
          </p:cNvPr>
          <p:cNvSpPr txBox="1"/>
          <p:nvPr/>
        </p:nvSpPr>
        <p:spPr>
          <a:xfrm>
            <a:off x="1600200" y="1444109"/>
            <a:ext cx="2098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 всех заказов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41B4B9-4406-027C-11E0-A567E8AD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25" y="1528762"/>
            <a:ext cx="31051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71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92329-2AE7-94EC-0422-E349C3BBBB32}"/>
              </a:ext>
            </a:extLst>
          </p:cNvPr>
          <p:cNvSpPr txBox="1"/>
          <p:nvPr/>
        </p:nvSpPr>
        <p:spPr>
          <a:xfrm>
            <a:off x="1600200" y="543550"/>
            <a:ext cx="8991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Проверочные запросы к базе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EDA4A-9E70-62AA-0B3B-8030C671BD84}"/>
              </a:ext>
            </a:extLst>
          </p:cNvPr>
          <p:cNvSpPr txBox="1"/>
          <p:nvPr/>
        </p:nvSpPr>
        <p:spPr>
          <a:xfrm>
            <a:off x="1600200" y="1444109"/>
            <a:ext cx="228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 всех платежей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762A87-76A8-924B-51FF-649981809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75" y="1552575"/>
            <a:ext cx="29146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06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AA28D-E813-28CE-E9F3-F5997A411718}"/>
              </a:ext>
            </a:extLst>
          </p:cNvPr>
          <p:cNvSpPr txBox="1"/>
          <p:nvPr/>
        </p:nvSpPr>
        <p:spPr>
          <a:xfrm>
            <a:off x="1600200" y="543550"/>
            <a:ext cx="8991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Проверочные запросы к базе данных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98933-75F8-3143-9B58-3319B9120B80}"/>
              </a:ext>
            </a:extLst>
          </p:cNvPr>
          <p:cNvSpPr txBox="1"/>
          <p:nvPr/>
        </p:nvSpPr>
        <p:spPr>
          <a:xfrm>
            <a:off x="1600200" y="1444109"/>
            <a:ext cx="2886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 истории бронирований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93F852-283D-E85E-86BB-03328CAA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75" y="1533525"/>
            <a:ext cx="299085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24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283365-BE8A-8AA7-8F60-05ABE27157D6}"/>
              </a:ext>
            </a:extLst>
          </p:cNvPr>
          <p:cNvSpPr txBox="1"/>
          <p:nvPr/>
        </p:nvSpPr>
        <p:spPr>
          <a:xfrm>
            <a:off x="1600200" y="543550"/>
            <a:ext cx="89725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Пользовательский интерфейс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4DABF1-B962-49F5-DE0E-F93558C669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12991"/>
            <a:ext cx="5940425" cy="3959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0E6F12-F006-7825-629C-C0021F9A5E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1312991"/>
            <a:ext cx="5940425" cy="3959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9569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2359EF-F59A-5DBA-4B5D-9EEFB177234B}"/>
              </a:ext>
            </a:extLst>
          </p:cNvPr>
          <p:cNvSpPr txBox="1"/>
          <p:nvPr/>
        </p:nvSpPr>
        <p:spPr>
          <a:xfrm>
            <a:off x="1600200" y="543550"/>
            <a:ext cx="89725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Пользовательский интерфейс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132041-459E-E6AE-CA79-6979BEEB00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1312991"/>
            <a:ext cx="5940425" cy="3959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42A873-A6F3-026E-9EB1-DF39C7780A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1312991"/>
            <a:ext cx="5940425" cy="3959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8369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CF5C0-8C07-F670-B571-4B93949C0C22}"/>
              </a:ext>
            </a:extLst>
          </p:cNvPr>
          <p:cNvSpPr txBox="1"/>
          <p:nvPr/>
        </p:nvSpPr>
        <p:spPr>
          <a:xfrm>
            <a:off x="1600200" y="543550"/>
            <a:ext cx="89725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Пользовательский интерфейс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2590EE-EEEE-44AD-1A88-2D3A7918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312991"/>
            <a:ext cx="5943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34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3BD29-D629-08DD-699D-1F340680AD23}"/>
              </a:ext>
            </a:extLst>
          </p:cNvPr>
          <p:cNvSpPr txBox="1"/>
          <p:nvPr/>
        </p:nvSpPr>
        <p:spPr>
          <a:xfrm>
            <a:off x="1600200" y="543550"/>
            <a:ext cx="89725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Заключение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4E811-FE36-0B06-F6F9-251014107BEB}"/>
              </a:ext>
            </a:extLst>
          </p:cNvPr>
          <p:cNvSpPr txBox="1"/>
          <p:nvPr/>
        </p:nvSpPr>
        <p:spPr>
          <a:xfrm>
            <a:off x="0" y="1424541"/>
            <a:ext cx="12192000" cy="3578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ходе выполнения курсового проекта была рассмотрена предметная область системы бронирования билетов и выполнено проектирование информационной системы, предназначенной для автоматизации основных процессов обработки заказов и хранения данных.</a:t>
            </a:r>
          </a:p>
          <a:p>
            <a:pPr indent="449580" algn="just">
              <a:lnSpc>
                <a:spcPct val="150000"/>
              </a:lnSpc>
              <a:spcAft>
                <a:spcPts val="800"/>
              </a:spcAft>
              <a:buNone/>
            </a:pPr>
            <a:endParaRPr lang="ru-R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процессе работы были изучены особенности организации бронирования билетов, рассмотрены основные участники системы и их взаимодействие, а также определены требования к функционалу информационной системы. Проведенный анализ показал, что использование автоматизированной системы позволяет повысить удобство работы с информацией, сократить время обработки заказов и уменьшить вероятность возникновения ошибок.</a:t>
            </a:r>
          </a:p>
        </p:txBody>
      </p:sp>
    </p:spTree>
    <p:extLst>
      <p:ext uri="{BB962C8B-B14F-4D97-AF65-F5344CB8AC3E}">
        <p14:creationId xmlns:p14="http://schemas.microsoft.com/office/powerpoint/2010/main" val="3170796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E107ED-1505-9109-4B5E-1BE0D49DB12F}"/>
              </a:ext>
            </a:extLst>
          </p:cNvPr>
          <p:cNvSpPr txBox="1"/>
          <p:nvPr/>
        </p:nvSpPr>
        <p:spPr>
          <a:xfrm>
            <a:off x="1609725" y="2659559"/>
            <a:ext cx="89725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СПАСИБО ЗА ВНИМАНИЕ!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9579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740</Words>
  <Application>Microsoft Office PowerPoint</Application>
  <PresentationFormat>Широкоэкранный</PresentationFormat>
  <Paragraphs>91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Описание предметной области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Изосимов</dc:creator>
  <cp:lastModifiedBy>Денис Изосимов</cp:lastModifiedBy>
  <cp:revision>1</cp:revision>
  <dcterms:created xsi:type="dcterms:W3CDTF">2026-05-13T23:59:05Z</dcterms:created>
  <dcterms:modified xsi:type="dcterms:W3CDTF">2026-05-14T01:21:01Z</dcterms:modified>
</cp:coreProperties>
</file>